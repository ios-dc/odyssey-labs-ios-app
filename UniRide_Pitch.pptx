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914400"/>
            <a:ext cx="4114800" cy="41148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2926080" cy="2926080"/>
          </a:xfrm>
          <a:prstGeom prst="ellipse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UniRide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campus commute, reimagined.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749040" y="3291840"/>
            <a:ext cx="164592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06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was a battle.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Stranded at the gate. Late again.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ride. No plan. No choice.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Krish, Founder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92240" y="731520"/>
            <a:ext cx="2286000" cy="3657600"/>
          </a:xfrm>
          <a:prstGeom prst="rect">
            <a:avLst/>
          </a:prstGeom>
          <a:solidFill>
            <a:srgbClr val="111124"/>
          </a:solidFill>
          <a:ln/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92240" y="731520"/>
            <a:ext cx="2286000" cy="45720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18872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3796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Hrs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537960" y="24871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commute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903720" y="2880360"/>
            <a:ext cx="1463040" cy="27432"/>
          </a:xfrm>
          <a:prstGeom prst="rect">
            <a:avLst/>
          </a:prstGeom>
          <a:solidFill>
            <a:srgbClr val="2A2A44"/>
          </a:solidFill>
          <a:ln/>
        </p:spPr>
      </p:sp>
      <p:sp>
        <p:nvSpPr>
          <p:cNvPr id="13" name="Text 10"/>
          <p:cNvSpPr/>
          <p:nvPr/>
        </p:nvSpPr>
        <p:spPr>
          <a:xfrm>
            <a:off x="6537960" y="30175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after month.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3796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millions of students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it's not just me.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143000"/>
            <a:ext cx="2651760" cy="3566160"/>
          </a:xfrm>
          <a:prstGeom prst="rect">
            <a:avLst/>
          </a:prstGeom>
          <a:solidFill>
            <a:srgbClr val="111124"/>
          </a:solidFill>
          <a:ln/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143000"/>
            <a:ext cx="2651760" cy="45720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3716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0574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34M+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02920" y="28072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scholars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commuting daily in India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0" y="1143000"/>
            <a:ext cx="2651760" cy="3566160"/>
          </a:xfrm>
          <a:prstGeom prst="rect">
            <a:avLst/>
          </a:prstGeom>
          <a:solidFill>
            <a:srgbClr val="111124"/>
          </a:solidFill>
          <a:ln/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0" y="1143000"/>
            <a:ext cx="2651760" cy="45720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3716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20574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Min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3337560" y="28072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one-way commute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(MoveInSync 2023)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143000"/>
            <a:ext cx="2651760" cy="3566160"/>
          </a:xfrm>
          <a:prstGeom prst="rect">
            <a:avLst/>
          </a:prstGeom>
          <a:solidFill>
            <a:srgbClr val="111124"/>
          </a:solidFill>
          <a:ln/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035040" y="1143000"/>
            <a:ext cx="2651760" cy="45720"/>
          </a:xfrm>
          <a:prstGeom prst="rect">
            <a:avLst/>
          </a:prstGeom>
          <a:solidFill>
            <a:srgbClr val="A5B4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3716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20574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000" dirty="0"/>
          </a:p>
        </p:txBody>
      </p:sp>
      <p:sp>
        <p:nvSpPr>
          <p:cNvPr id="17" name="Text 12"/>
          <p:cNvSpPr/>
          <p:nvPr/>
        </p:nvSpPr>
        <p:spPr>
          <a:xfrm>
            <a:off x="6172200" y="280720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no hostel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to commute daily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3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AISHE 2022–23 (education.gov.in)  ·  MoveInSync Urban Mobility Report 2023 (moveinsync.com)  ·  UGC Annual Report 2023–24 (ugc.ac.in)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1371600"/>
            <a:ext cx="4572000" cy="45720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 is massive.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51760" cy="1920240"/>
          </a:xfrm>
          <a:prstGeom prst="rect">
            <a:avLst/>
          </a:prstGeom>
          <a:solidFill>
            <a:srgbClr val="111124"/>
          </a:solidFill>
          <a:ln/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651760" cy="1920240"/>
          </a:xfrm>
          <a:prstGeom prst="rect">
            <a:avLst/>
          </a:prstGeom>
          <a:solidFill>
            <a:srgbClr val="111124"/>
          </a:solidFill>
          <a:ln/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9184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spend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051560"/>
            <a:ext cx="2651760" cy="1920240"/>
          </a:xfrm>
          <a:prstGeom prst="rect">
            <a:avLst/>
          </a:prstGeom>
          <a:solidFill>
            <a:srgbClr val="111124"/>
          </a:solidFill>
          <a:ln/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234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₹1.2L Cr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26480" y="19659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campus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market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46120"/>
            <a:ext cx="8412480" cy="1005840"/>
          </a:xfrm>
          <a:prstGeom prst="rect">
            <a:avLst/>
          </a:prstGeom>
          <a:solidFill>
            <a:srgbClr val="111124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246120"/>
            <a:ext cx="54864" cy="10058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3375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already has 11M pooled-ride users — yet zero platforms are built for campus commuters.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3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AISHE 2022–23 (education.gov.in)  ·  UGC Annual Report 2023–24 (ugc.ac.in)  ·  PS Market Research — India Ride-Hailing Q1 2024  ·  Market sizing estimated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is solving this for students.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miss the campus commuter entirely.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69080" cy="1417320"/>
          </a:xfrm>
          <a:prstGeom prst="rect">
            <a:avLst/>
          </a:prstGeom>
          <a:solidFill>
            <a:srgbClr val="111124"/>
          </a:solidFill>
          <a:ln/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069080" cy="457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13916"/>
            <a:ext cx="475488" cy="475488"/>
          </a:xfrm>
          <a:prstGeom prst="ellipse">
            <a:avLst/>
          </a:prstGeom>
          <a:solidFill>
            <a:srgbClr val="1A1A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236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650492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Campus Trust Layer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709160" y="1143000"/>
            <a:ext cx="4069080" cy="1417320"/>
          </a:xfrm>
          <a:prstGeom prst="rect">
            <a:avLst/>
          </a:prstGeom>
          <a:solidFill>
            <a:srgbClr val="111124"/>
          </a:solidFill>
          <a:ln/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143000"/>
            <a:ext cx="406908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Shape 8"/>
          <p:cNvSpPr/>
          <p:nvPr/>
        </p:nvSpPr>
        <p:spPr>
          <a:xfrm>
            <a:off x="4892040" y="1613916"/>
            <a:ext cx="475488" cy="475488"/>
          </a:xfrm>
          <a:prstGeom prst="ellipse">
            <a:avLst/>
          </a:prstGeom>
          <a:solidFill>
            <a:srgbClr val="1A1A3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7236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13832" y="1650492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Student-First Pricing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65760" y="2788920"/>
            <a:ext cx="4069080" cy="1417320"/>
          </a:xfrm>
          <a:prstGeom prst="rect">
            <a:avLst/>
          </a:prstGeom>
          <a:solidFill>
            <a:srgbClr val="111124"/>
          </a:solidFill>
          <a:ln/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788920"/>
            <a:ext cx="40690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2"/>
          <p:cNvSpPr/>
          <p:nvPr/>
        </p:nvSpPr>
        <p:spPr>
          <a:xfrm>
            <a:off x="548640" y="3259836"/>
            <a:ext cx="475488" cy="475488"/>
          </a:xfrm>
          <a:prstGeom prst="ellipse">
            <a:avLst/>
          </a:prstGeom>
          <a:solidFill>
            <a:srgbClr val="1A1A3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6956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70432" y="3296412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Daily Route Matching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4709160" y="2788920"/>
            <a:ext cx="4069080" cy="1417320"/>
          </a:xfrm>
          <a:prstGeom prst="rect">
            <a:avLst/>
          </a:prstGeom>
          <a:solidFill>
            <a:srgbClr val="111124"/>
          </a:solidFill>
          <a:ln/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788920"/>
            <a:ext cx="4069080" cy="45720"/>
          </a:xfrm>
          <a:prstGeom prst="rect">
            <a:avLst/>
          </a:prstGeom>
          <a:solidFill>
            <a:srgbClr val="A5B4FC"/>
          </a:solidFill>
          <a:ln/>
        </p:spPr>
      </p:sp>
      <p:sp>
        <p:nvSpPr>
          <p:cNvPr id="21" name="Shape 16"/>
          <p:cNvSpPr/>
          <p:nvPr/>
        </p:nvSpPr>
        <p:spPr>
          <a:xfrm>
            <a:off x="4892040" y="3259836"/>
            <a:ext cx="475488" cy="475488"/>
          </a:xfrm>
          <a:prstGeom prst="ellipse">
            <a:avLst/>
          </a:prstGeom>
          <a:solidFill>
            <a:srgbClr val="1A1A3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36956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13832" y="3296412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Student Community Network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8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UniRide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914400" y="2788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ride to campus — or have empty seats to share?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011680" y="342900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21224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3429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342900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2122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429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342900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121224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34290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Ride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to college without the chaos.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384048" cy="384048"/>
          </a:xfrm>
          <a:prstGeom prst="ellipse">
            <a:avLst/>
          </a:prstGeom>
          <a:solidFill>
            <a:srgbClr val="1E1E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58191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0976" y="15179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route &amp; time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50976" y="17556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schedule exactly.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340864"/>
            <a:ext cx="384048" cy="384048"/>
          </a:xfrm>
          <a:prstGeom prst="ellipse">
            <a:avLst/>
          </a:prstGeom>
          <a:solidFill>
            <a:srgbClr val="1E1E3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240487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0976" y="23408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Campus-verified community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50976" y="2578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faculty only.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163824"/>
            <a:ext cx="384048" cy="384048"/>
          </a:xfrm>
          <a:prstGeom prst="ellipse">
            <a:avLst/>
          </a:prstGeom>
          <a:solidFill>
            <a:srgbClr val="1E1E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22783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0976" y="31638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after every ride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950976" y="3401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with people you trust.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760720" y="274320"/>
            <a:ext cx="2926080" cy="4572000"/>
          </a:xfrm>
          <a:prstGeom prst="roundRect">
            <a:avLst>
              <a:gd name="adj" fmla="val 5625"/>
            </a:avLst>
          </a:prstGeom>
          <a:solidFill>
            <a:srgbClr val="1A1A32"/>
          </a:solidFill>
          <a:ln w="25400">
            <a:solidFill>
              <a:srgbClr val="2E2E5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852160" y="475488"/>
            <a:ext cx="2743200" cy="4187952"/>
          </a:xfrm>
          <a:prstGeom prst="rect">
            <a:avLst/>
          </a:prstGeom>
          <a:solidFill>
            <a:srgbClr val="0A0A1A"/>
          </a:solidFill>
          <a:ln/>
        </p:spPr>
      </p:sp>
      <p:sp>
        <p:nvSpPr>
          <p:cNvPr id="18" name="Shape 13"/>
          <p:cNvSpPr/>
          <p:nvPr/>
        </p:nvSpPr>
        <p:spPr>
          <a:xfrm>
            <a:off x="7059168" y="338328"/>
            <a:ext cx="329184" cy="91440"/>
          </a:xfrm>
          <a:prstGeom prst="roundRect">
            <a:avLst>
              <a:gd name="adj" fmla="val 50000"/>
            </a:avLst>
          </a:prstGeom>
          <a:solidFill>
            <a:srgbClr val="2E2E50"/>
          </a:solidFill>
          <a:ln/>
        </p:spPr>
      </p:sp>
      <p:sp>
        <p:nvSpPr>
          <p:cNvPr id="19" name="Shape 14"/>
          <p:cNvSpPr/>
          <p:nvPr/>
        </p:nvSpPr>
        <p:spPr>
          <a:xfrm>
            <a:off x="6949440" y="4718304"/>
            <a:ext cx="548640" cy="54864"/>
          </a:xfrm>
          <a:prstGeom prst="roundRect">
            <a:avLst>
              <a:gd name="adj" fmla="val 50000"/>
            </a:avLst>
          </a:prstGeom>
          <a:solidFill>
            <a:srgbClr val="2E2E50"/>
          </a:solidFill>
          <a:ln/>
        </p:spPr>
      </p:sp>
      <p:sp>
        <p:nvSpPr>
          <p:cNvPr id="20" name="Shape 15"/>
          <p:cNvSpPr/>
          <p:nvPr/>
        </p:nvSpPr>
        <p:spPr>
          <a:xfrm>
            <a:off x="5852160" y="475488"/>
            <a:ext cx="2743200" cy="274320"/>
          </a:xfrm>
          <a:prstGeom prst="rect">
            <a:avLst/>
          </a:prstGeom>
          <a:solidFill>
            <a:srgbClr val="111130"/>
          </a:solidFill>
          <a:ln/>
        </p:spPr>
      </p:sp>
      <p:sp>
        <p:nvSpPr>
          <p:cNvPr id="21" name="Text 16"/>
          <p:cNvSpPr/>
          <p:nvPr/>
        </p:nvSpPr>
        <p:spPr>
          <a:xfrm>
            <a:off x="5852160" y="512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UniRide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5852160" y="23408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Ride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2E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926080" cy="4572000"/>
          </a:xfrm>
          <a:prstGeom prst="roundRect">
            <a:avLst>
              <a:gd name="adj" fmla="val 5625"/>
            </a:avLst>
          </a:prstGeom>
          <a:solidFill>
            <a:srgbClr val="1A1A32"/>
          </a:solidFill>
          <a:ln w="25400">
            <a:solidFill>
              <a:srgbClr val="2E2E5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57200" y="475488"/>
            <a:ext cx="2743200" cy="4187952"/>
          </a:xfrm>
          <a:prstGeom prst="rect">
            <a:avLst/>
          </a:prstGeom>
          <a:solidFill>
            <a:srgbClr val="0A0A1A"/>
          </a:solidFill>
          <a:ln/>
        </p:spPr>
      </p:sp>
      <p:sp>
        <p:nvSpPr>
          <p:cNvPr id="4" name="Shape 2"/>
          <p:cNvSpPr/>
          <p:nvPr/>
        </p:nvSpPr>
        <p:spPr>
          <a:xfrm>
            <a:off x="1664208" y="338328"/>
            <a:ext cx="329184" cy="91440"/>
          </a:xfrm>
          <a:prstGeom prst="roundRect">
            <a:avLst>
              <a:gd name="adj" fmla="val 50000"/>
            </a:avLst>
          </a:prstGeom>
          <a:solidFill>
            <a:srgbClr val="2E2E50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4718304"/>
            <a:ext cx="548640" cy="54864"/>
          </a:xfrm>
          <a:prstGeom prst="roundRect">
            <a:avLst>
              <a:gd name="adj" fmla="val 50000"/>
            </a:avLst>
          </a:prstGeom>
          <a:solidFill>
            <a:srgbClr val="2E2E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75488"/>
            <a:ext cx="2743200" cy="274320"/>
          </a:xfrm>
          <a:prstGeom prst="rect">
            <a:avLst/>
          </a:prstGeom>
          <a:solidFill>
            <a:srgbClr val="1111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12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UniRide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23408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Ride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2E2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0" y="3657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Ride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0" y="1005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daily drive into shared value.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1517904"/>
            <a:ext cx="384048" cy="384048"/>
          </a:xfrm>
          <a:prstGeom prst="ellipse">
            <a:avLst/>
          </a:prstGeom>
          <a:solidFill>
            <a:srgbClr val="1E1E3A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808" y="1581912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608576" y="15179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route with maps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608576" y="17556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stops and departure times.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0" y="2340864"/>
            <a:ext cx="384048" cy="384048"/>
          </a:xfrm>
          <a:prstGeom prst="ellipse">
            <a:avLst/>
          </a:prstGeom>
          <a:solidFill>
            <a:srgbClr val="1E1E3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8" y="240487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08576" y="23408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fuel costs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608576" y="2578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1–4 seats at fair prices.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114800" y="3163824"/>
            <a:ext cx="384048" cy="384048"/>
          </a:xfrm>
          <a:prstGeom prst="ellipse">
            <a:avLst/>
          </a:prstGeom>
          <a:solidFill>
            <a:srgbClr val="1E1E3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08" y="322783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08576" y="31638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 every rider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4608576" y="3401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profiles before confirming.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just a ride.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886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UniRide connects your campus — beyond the commute.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111124"/>
          </a:solidFill>
          <a:ln/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3931920" cy="4572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618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Community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85800" y="2240280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6"/>
          <p:cNvSpPr/>
          <p:nvPr/>
        </p:nvSpPr>
        <p:spPr>
          <a:xfrm>
            <a:off x="896112" y="2176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posts &amp; discussions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2898648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events &amp; opportunities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3557016"/>
            <a:ext cx="100584" cy="1005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" y="3493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 before riding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111124"/>
          </a:solidFill>
          <a:ln/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417320"/>
            <a:ext cx="3931920" cy="4572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600200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16184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Rides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983480" y="2240280"/>
            <a:ext cx="100584" cy="1005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5"/>
          <p:cNvSpPr/>
          <p:nvPr/>
        </p:nvSpPr>
        <p:spPr>
          <a:xfrm>
            <a:off x="5193792" y="21762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upcoming &amp; past rides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983480" y="2898648"/>
            <a:ext cx="100584" cy="1005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7"/>
          <p:cNvSpPr/>
          <p:nvPr/>
        </p:nvSpPr>
        <p:spPr>
          <a:xfrm>
            <a:off x="5193792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drivers &amp; passengers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983480" y="3557016"/>
            <a:ext cx="100584" cy="10058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3" name="Text 19"/>
          <p:cNvSpPr/>
          <p:nvPr/>
        </p:nvSpPr>
        <p:spPr>
          <a:xfrm>
            <a:off x="5193792" y="3493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ride history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4069080" y="1417320"/>
            <a:ext cx="1005840" cy="3337560"/>
          </a:xfrm>
          <a:prstGeom prst="roundRect">
            <a:avLst>
              <a:gd name="adj" fmla="val 16364"/>
            </a:avLst>
          </a:prstGeom>
          <a:solidFill>
            <a:srgbClr val="1A1A32"/>
          </a:solidFill>
          <a:ln w="25400">
            <a:solidFill>
              <a:srgbClr val="2E2E50"/>
            </a:solidFill>
            <a:prstDash val="solid"/>
          </a:ln>
          <a:effectLst>
            <a:outerShdw sx="100000" sy="100000" kx="0" ky="0" algn="bl" rotWithShape="0" blurRad="203200" dist="508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160520" y="1618488"/>
            <a:ext cx="822960" cy="2953512"/>
          </a:xfrm>
          <a:prstGeom prst="rect">
            <a:avLst/>
          </a:prstGeom>
          <a:solidFill>
            <a:srgbClr val="0A0A1A"/>
          </a:solidFill>
          <a:ln/>
        </p:spPr>
      </p:sp>
      <p:sp>
        <p:nvSpPr>
          <p:cNvPr id="26" name="Shape 22"/>
          <p:cNvSpPr/>
          <p:nvPr/>
        </p:nvSpPr>
        <p:spPr>
          <a:xfrm>
            <a:off x="4407408" y="1481328"/>
            <a:ext cx="329184" cy="91440"/>
          </a:xfrm>
          <a:prstGeom prst="roundRect">
            <a:avLst>
              <a:gd name="adj" fmla="val 50000"/>
            </a:avLst>
          </a:prstGeom>
          <a:solidFill>
            <a:srgbClr val="2E2E50"/>
          </a:solidFill>
          <a:ln/>
        </p:spPr>
      </p:sp>
      <p:sp>
        <p:nvSpPr>
          <p:cNvPr id="27" name="Shape 23"/>
          <p:cNvSpPr/>
          <p:nvPr/>
        </p:nvSpPr>
        <p:spPr>
          <a:xfrm>
            <a:off x="4297680" y="4626864"/>
            <a:ext cx="548640" cy="54864"/>
          </a:xfrm>
          <a:prstGeom prst="roundRect">
            <a:avLst>
              <a:gd name="adj" fmla="val 50000"/>
            </a:avLst>
          </a:prstGeom>
          <a:solidFill>
            <a:srgbClr val="2E2E50"/>
          </a:solidFill>
          <a:ln/>
        </p:spPr>
      </p:sp>
      <p:sp>
        <p:nvSpPr>
          <p:cNvPr id="28" name="Shape 24"/>
          <p:cNvSpPr/>
          <p:nvPr/>
        </p:nvSpPr>
        <p:spPr>
          <a:xfrm>
            <a:off x="4160520" y="1618488"/>
            <a:ext cx="822960" cy="274320"/>
          </a:xfrm>
          <a:prstGeom prst="rect">
            <a:avLst/>
          </a:prstGeom>
          <a:solidFill>
            <a:srgbClr val="111130"/>
          </a:solidFill>
          <a:ln/>
        </p:spPr>
      </p:sp>
      <p:sp>
        <p:nvSpPr>
          <p:cNvPr id="29" name="Text 25"/>
          <p:cNvSpPr/>
          <p:nvPr/>
        </p:nvSpPr>
        <p:spPr>
          <a:xfrm>
            <a:off x="4160520" y="165506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UniRide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160520" y="286664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UniRide — Pitch Deck</dc:title>
  <dc:subject>PptxGenJS Presentation</dc:subject>
  <dc:creator>PptxGenJS</dc:creator>
  <cp:lastModifiedBy>PptxGenJS</cp:lastModifiedBy>
  <cp:revision>1</cp:revision>
  <dcterms:created xsi:type="dcterms:W3CDTF">2026-05-01T04:49:09Z</dcterms:created>
  <dcterms:modified xsi:type="dcterms:W3CDTF">2026-05-01T04:49:09Z</dcterms:modified>
</cp:coreProperties>
</file>