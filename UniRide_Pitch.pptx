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914400"/>
            <a:ext cx="4114800" cy="4114800"/>
          </a:xfrm>
          <a:prstGeom prst="ellipse">
            <a:avLst/>
          </a:prstGeom>
          <a:solidFill>
            <a:srgbClr val="6366F1">
              <a:alpha val="12000"/>
            </a:srgbClr>
          </a:solidFill>
          <a:ln w="12700">
            <a:solidFill>
              <a:srgbClr val="6366F1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560320"/>
            <a:ext cx="2926080" cy="2926080"/>
          </a:xfrm>
          <a:prstGeom prst="ellipse">
            <a:avLst/>
          </a:prstGeom>
          <a:solidFill>
            <a:srgbClr val="10B981">
              <a:alpha val="10000"/>
            </a:srgbClr>
          </a:solidFill>
          <a:ln w="12700">
            <a:solidFill>
              <a:srgbClr val="10B981">
                <a:alpha val="1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716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UniRide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campus commute, reimagined.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749040" y="3291840"/>
            <a:ext cx="1645920" cy="27432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206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100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was a battle.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240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Stranded at the gate. Late again.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ride. No plan. No choice.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246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Krish, Founder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-1371600"/>
            <a:ext cx="4572000" cy="4572000"/>
          </a:xfrm>
          <a:prstGeom prst="ellipse">
            <a:avLst/>
          </a:prstGeom>
          <a:solidFill>
            <a:srgbClr val="6366F1">
              <a:alpha val="8000"/>
            </a:srgbClr>
          </a:solidFill>
          <a:ln w="12700">
            <a:solidFill>
              <a:srgbClr val="6366F1">
                <a:alpha val="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560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scale of the problem.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2651760" cy="361188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51560"/>
            <a:ext cx="2651760" cy="45720"/>
          </a:xfrm>
          <a:prstGeom prst="rect">
            <a:avLst/>
          </a:prstGeom>
          <a:solidFill>
            <a:srgbClr val="F8717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32588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05740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34M+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502920" y="2807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scholars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commuting daily in India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200400" y="1051560"/>
            <a:ext cx="2651760" cy="361188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00400" y="1051560"/>
            <a:ext cx="2651760" cy="45720"/>
          </a:xfrm>
          <a:prstGeom prst="rect">
            <a:avLst/>
          </a:prstGeom>
          <a:solidFill>
            <a:srgbClr val="FBBF2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32588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291840" y="205740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Hrs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3337560" y="2807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monthly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commute time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035040" y="1051560"/>
            <a:ext cx="2651760" cy="361188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035040" y="1051560"/>
            <a:ext cx="2651760" cy="45720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32588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126480" y="205740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₹1.2L Cr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6172200" y="2807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campus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commute market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365760" y="482803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3A3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AISHE 2022–23 (education.gov.in)  ·  MoveInSync Urban Mobility Report 2023  ·  UGC Annual Report 2023–24 (ugc.ac.in)  ·  Market sizing estimated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market built to scale.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campus-native, expanding across India's 1,000+ universities.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4389120" cy="105156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325880"/>
            <a:ext cx="54864" cy="10515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481328"/>
            <a:ext cx="621792" cy="256032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81328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7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16736" y="1417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₹1.2L Cr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16736" y="1920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40M+ students × ₹2,500/mo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560320"/>
            <a:ext cx="4389120" cy="105156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2560320"/>
            <a:ext cx="54864" cy="10515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Shape 10"/>
          <p:cNvSpPr/>
          <p:nvPr/>
        </p:nvSpPr>
        <p:spPr>
          <a:xfrm>
            <a:off x="566928" y="2715768"/>
            <a:ext cx="621792" cy="2560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715768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7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16736" y="2651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₹15,000 Cr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316736" y="3154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 urban day scholars, Tier 1 &amp; 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794760"/>
            <a:ext cx="4389120" cy="105156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3794760"/>
            <a:ext cx="54864" cy="105156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950208"/>
            <a:ext cx="621792" cy="25603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950208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07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16736" y="38862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₹600 Cr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1316736" y="4389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MAU · 50 campuses · Year 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937760" y="822960"/>
            <a:ext cx="3931920" cy="3749040"/>
          </a:xfrm>
          <a:prstGeom prst="ellipse">
            <a:avLst/>
          </a:prstGeom>
          <a:solidFill>
            <a:srgbClr val="6366F1">
              <a:alpha val="16000"/>
            </a:srgbClr>
          </a:solidFill>
          <a:ln w="19050">
            <a:solidFill>
              <a:srgbClr val="6366F1">
                <a:alpha val="4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8686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513832" y="1399032"/>
            <a:ext cx="2779776" cy="2596896"/>
          </a:xfrm>
          <a:prstGeom prst="ellipse">
            <a:avLst/>
          </a:prstGeom>
          <a:solidFill>
            <a:srgbClr val="10B981">
              <a:alpha val="16000"/>
            </a:srgbClr>
          </a:solidFill>
          <a:ln w="19050">
            <a:solidFill>
              <a:srgbClr val="10B981">
                <a:alpha val="45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50408" y="1435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99048" y="1965960"/>
            <a:ext cx="1609344" cy="1463040"/>
          </a:xfrm>
          <a:prstGeom prst="ellipse">
            <a:avLst/>
          </a:prstGeom>
          <a:solidFill>
            <a:srgbClr val="FBBF24">
              <a:alpha val="28000"/>
            </a:srgbClr>
          </a:solidFill>
          <a:ln w="19050">
            <a:solidFill>
              <a:srgbClr val="FBBF24">
                <a:alpha val="5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35624" y="201168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65760" y="482803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3A3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AISHE 2022–23 (education.gov.in)  ·  UGC Annual Report 2023–24 (ugc.ac.in)  ·  Market sizing estimated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your commute has been missing.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exclusively for campus commuters — riders and drivers alike.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914400"/>
            <a:ext cx="2651760" cy="347472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914400"/>
            <a:ext cx="2651760" cy="45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6" name="Shape 4"/>
          <p:cNvSpPr/>
          <p:nvPr/>
        </p:nvSpPr>
        <p:spPr>
          <a:xfrm>
            <a:off x="1389888" y="1554480"/>
            <a:ext cx="694944" cy="694944"/>
          </a:xfrm>
          <a:prstGeom prst="ellipse">
            <a:avLst/>
          </a:prstGeom>
          <a:solidFill>
            <a:srgbClr val="1A1A3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6192" y="1700784"/>
            <a:ext cx="402336" cy="402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245059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Campus-Verified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3218688" y="914400"/>
            <a:ext cx="2651760" cy="347472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18688" y="914400"/>
            <a:ext cx="2651760" cy="4572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1" name="Shape 8"/>
          <p:cNvSpPr/>
          <p:nvPr/>
        </p:nvSpPr>
        <p:spPr>
          <a:xfrm>
            <a:off x="4197096" y="1554480"/>
            <a:ext cx="694944" cy="694944"/>
          </a:xfrm>
          <a:prstGeom prst="ellipse">
            <a:avLst/>
          </a:prstGeom>
          <a:solidFill>
            <a:srgbClr val="1A1A3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700784"/>
            <a:ext cx="402336" cy="40233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55848" y="245059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Student-First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6025896" y="914400"/>
            <a:ext cx="2651760" cy="3474720"/>
          </a:xfrm>
          <a:prstGeom prst="rect">
            <a:avLst/>
          </a:prstGeom>
          <a:solidFill>
            <a:srgbClr val="111124"/>
          </a:solidFill>
          <a:ln/>
          <a:effectLst>
            <a:outerShdw sx="100000" sy="100000" kx="0" ky="0" algn="bl" rotWithShape="0" blurRad="203200" dist="50800" dir="81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025896" y="914400"/>
            <a:ext cx="26517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Shape 12"/>
          <p:cNvSpPr/>
          <p:nvPr/>
        </p:nvSpPr>
        <p:spPr>
          <a:xfrm>
            <a:off x="7004304" y="1554480"/>
            <a:ext cx="694944" cy="694944"/>
          </a:xfrm>
          <a:prstGeom prst="ellipse">
            <a:avLst/>
          </a:prstGeom>
          <a:solidFill>
            <a:srgbClr val="1A1A38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08" y="1700784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163056" y="245059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Daily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Matching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0" y="457200"/>
            <a:ext cx="4572000" cy="4572000"/>
          </a:xfrm>
          <a:prstGeom prst="ellipse">
            <a:avLst/>
          </a:prstGeom>
          <a:solidFill>
            <a:srgbClr val="6366F1">
              <a:alpha val="15000"/>
            </a:srgbClr>
          </a:solidFill>
          <a:ln w="12700">
            <a:solidFill>
              <a:srgbClr val="6366F1">
                <a:alpha val="1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005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pc="800" kern="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UniRide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914400" y="27889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a ride to campus — or have empty seats to share?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011680" y="34290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121224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0" y="3429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840480" y="34290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12122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429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Affordable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0" y="3429000"/>
            <a:ext cx="1463040" cy="411480"/>
          </a:xfrm>
          <a:prstGeom prst="roundRect">
            <a:avLst>
              <a:gd name="adj" fmla="val 17778"/>
            </a:avLst>
          </a:prstGeom>
          <a:solidFill>
            <a:srgbClr val="121224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0" y="3429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457200"/>
            <a:ext cx="4572000" cy="4572000"/>
          </a:xfrm>
          <a:prstGeom prst="ellipse">
            <a:avLst/>
          </a:prstGeom>
          <a:solidFill>
            <a:srgbClr val="6366F1">
              <a:alpha val="8000"/>
            </a:srgbClr>
          </a:solidFill>
          <a:ln w="12700">
            <a:solidFill>
              <a:srgbClr val="6366F1">
                <a:alpha val="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88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Ride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914400" y="2194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to campus without the chaos.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737360" y="2971800"/>
            <a:ext cx="475488" cy="475488"/>
          </a:xfrm>
          <a:prstGeom prst="ellipse">
            <a:avLst/>
          </a:prstGeom>
          <a:solidFill>
            <a:srgbClr val="1A1A3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088" y="3081528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566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route &amp; time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343400" y="2971800"/>
            <a:ext cx="475488" cy="475488"/>
          </a:xfrm>
          <a:prstGeom prst="ellipse">
            <a:avLst/>
          </a:prstGeom>
          <a:solidFill>
            <a:srgbClr val="1A1A38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3081528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20440" y="3566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Campus-verified riders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949440" y="2971800"/>
            <a:ext cx="475488" cy="475488"/>
          </a:xfrm>
          <a:prstGeom prst="ellipse">
            <a:avLst/>
          </a:prstGeom>
          <a:solidFill>
            <a:srgbClr val="1A1A38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3081528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126480" y="3566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after every ride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457200"/>
            <a:ext cx="4572000" cy="4572000"/>
          </a:xfrm>
          <a:prstGeom prst="ellipse">
            <a:avLst/>
          </a:prstGeom>
          <a:solidFill>
            <a:srgbClr val="10B981">
              <a:alpha val="8000"/>
            </a:srgbClr>
          </a:solidFill>
          <a:ln w="12700">
            <a:solidFill>
              <a:srgbClr val="10B981">
                <a:alpha val="8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88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 Ride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914400" y="2194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your daily drive into shared value.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737360" y="2971800"/>
            <a:ext cx="475488" cy="475488"/>
          </a:xfrm>
          <a:prstGeom prst="ellipse">
            <a:avLst/>
          </a:prstGeom>
          <a:solidFill>
            <a:srgbClr val="0D242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088" y="3081528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566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your route &amp; stops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343400" y="2971800"/>
            <a:ext cx="475488" cy="475488"/>
          </a:xfrm>
          <a:prstGeom prst="ellipse">
            <a:avLst/>
          </a:prstGeom>
          <a:solidFill>
            <a:srgbClr val="0D242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3081528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20440" y="3566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fuel costs fairly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949440" y="2971800"/>
            <a:ext cx="475488" cy="475488"/>
          </a:xfrm>
          <a:prstGeom prst="ellipse">
            <a:avLst/>
          </a:prstGeom>
          <a:solidFill>
            <a:srgbClr val="0D2420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3081528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126480" y="3566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every rider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457200"/>
            <a:ext cx="4572000" cy="4572000"/>
          </a:xfrm>
          <a:prstGeom prst="ellipse">
            <a:avLst/>
          </a:prstGeom>
          <a:solidFill>
            <a:srgbClr val="FBBF24">
              <a:alpha val="7000"/>
            </a:srgbClr>
          </a:solidFill>
          <a:ln w="12700">
            <a:solidFill>
              <a:srgbClr val="FBBF24">
                <a:alpha val="7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88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just a ride.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914400" y="2194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UniRide connects your campus beyond the commute.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737360" y="2971800"/>
            <a:ext cx="475488" cy="475488"/>
          </a:xfrm>
          <a:prstGeom prst="ellipse">
            <a:avLst/>
          </a:prstGeom>
          <a:solidFill>
            <a:srgbClr val="1A160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088" y="3081528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566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Community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343400" y="2971800"/>
            <a:ext cx="475488" cy="475488"/>
          </a:xfrm>
          <a:prstGeom prst="ellipse">
            <a:avLst/>
          </a:prstGeom>
          <a:solidFill>
            <a:srgbClr val="1A160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3081528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20440" y="3566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 History &amp; Ratings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949440" y="2971800"/>
            <a:ext cx="475488" cy="475488"/>
          </a:xfrm>
          <a:prstGeom prst="ellipse">
            <a:avLst/>
          </a:prstGeom>
          <a:solidFill>
            <a:srgbClr val="1A1600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3081528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126480" y="35661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&amp; Announcements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UniRide — Pitch Deck</dc:title>
  <dc:subject>PptxGenJS Presentation</dc:subject>
  <dc:creator>PptxGenJS</dc:creator>
  <cp:lastModifiedBy>PptxGenJS</cp:lastModifiedBy>
  <cp:revision>1</cp:revision>
  <dcterms:created xsi:type="dcterms:W3CDTF">2026-05-15T04:39:42Z</dcterms:created>
  <dcterms:modified xsi:type="dcterms:W3CDTF">2026-05-15T04:39:42Z</dcterms:modified>
</cp:coreProperties>
</file>